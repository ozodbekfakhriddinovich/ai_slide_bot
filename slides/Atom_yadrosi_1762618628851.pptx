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762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800" b="true"/>
              <a:t>Atom yadrosi
null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0" y="2540000"/>
            <a:ext cx="6350000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76200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true"/>
              <a:t>Reja:</a:t>
            </a:r>
          </a:p>
          <a:p>
            <a:pPr>
              <a:buFont typeface="Arial"/>
              <a:buChar char="•"/>
            </a:pPr>
            <a:r>
              <a:rPr lang="en-US" sz="2000"/>
              <a:t>Yadroda protonlar, neytronlar va elektronlar mavjud</a:t>
            </a:r>
          </a:p>
          <a:p>
            <a:pPr>
              <a:buFont typeface="Arial"/>
              <a:buChar char="•"/>
            </a:pPr>
            <a:r>
              <a:rPr lang="en-US" sz="2000"/>
              <a:t>Atomlar oʻzaro elektronlarini almashish orqali chetlatadi</a:t>
            </a:r>
          </a:p>
          <a:p>
            <a:pPr>
              <a:buFont typeface="Arial"/>
              <a:buChar char="•"/>
            </a:pPr>
            <a:r>
              <a:rPr lang="en-US" sz="2000"/>
              <a:t>Bir nechta atomlarning yadrosi birlashishi bilan molekulalar yuzaga keladi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700" y="2463800"/>
            <a:ext cx="5194300" cy="38227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2463800"/>
            <a:ext cx="36957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200" b="true"/>
              <a:t>Protonlar</a:t>
            </a:r>
          </a:p>
          <a:p>
            <a:pPr>
              <a:buFont typeface="Arial"/>
              <a:buChar char="•"/>
            </a:pPr>
            <a:r>
              <a:rPr lang="en-US" sz="1800"/>
              <a:t>Yadroda oʻrin oladi</a:t>
            </a:r>
          </a:p>
          <a:p>
            <a:pPr>
              <a:buFont typeface="Arial"/>
              <a:buChar char="•"/>
            </a:pPr>
            <a:r>
              <a:rPr lang="en-US" sz="1800"/>
              <a:t>Oddiy protonlar atomlar uchun bir xil oʻlchovda boʻladi</a:t>
            </a:r>
          </a:p>
          <a:p>
            <a:pPr>
              <a:buFont typeface="Arial"/>
              <a:buChar char="•"/>
            </a:pPr>
            <a:r>
              <a:rPr lang="en-US" sz="1800"/>
              <a:t>Protonlar atomlar yuzidan elektronlarni olib tashlaydi</a:t>
            </a:r>
          </a:p>
        </p:txBody>
      </p:sp>
      <p:sp>
        <p:nvSpPr>
          <p:cNvPr name="AutoShape 4" id="4"/>
          <p:cNvSpPr/>
          <p:nvPr/>
        </p:nvSpPr>
        <p:spPr>
          <a:xfrm>
            <a:off x="5029200" y="1714500"/>
            <a:ext cx="1270000" cy="635000"/>
          </a:xfrm>
          <a:prstGeom prst="rect">
            <a:avLst/>
          </a:prstGeom>
          <a:solidFill>
            <a:srgbClr val="1CB0BD"/>
          </a:solid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3924300" y="1574800"/>
            <a:ext cx="3937000" cy="3556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1574800"/>
            <a:ext cx="4953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200" b="true"/>
              <a:t>Neytronlar</a:t>
            </a:r>
          </a:p>
          <a:p>
            <a:pPr>
              <a:buFont typeface="Arial"/>
              <a:buChar char="•"/>
            </a:pPr>
            <a:r>
              <a:rPr lang="en-US" sz="1800"/>
              <a:t>Atom yadrosida joylashgan</a:t>
            </a:r>
          </a:p>
          <a:p>
            <a:pPr>
              <a:buFont typeface="Arial"/>
              <a:buChar char="•"/>
            </a:pPr>
            <a:r>
              <a:rPr lang="en-US" sz="1800"/>
              <a:t>Bir nechta atomlarda neytronlar elektronlardan koʻra koʻproq boʻladi</a:t>
            </a:r>
          </a:p>
          <a:p>
            <a:pPr>
              <a:buFont typeface="Arial"/>
              <a:buChar char="•"/>
            </a:pPr>
            <a:r>
              <a:rPr lang="en-US" sz="1800"/>
              <a:t>Neytronlar atom yadrosining oʻqlar boʻlgan qismida joylashgan</a:t>
            </a:r>
          </a:p>
        </p:txBody>
      </p:sp>
      <p:sp>
        <p:nvSpPr>
          <p:cNvPr name="AutoShape 4" id="4"/>
          <p:cNvSpPr/>
          <p:nvPr/>
        </p:nvSpPr>
        <p:spPr>
          <a:xfrm>
            <a:off x="1917700" y="2578100"/>
            <a:ext cx="1270000" cy="635000"/>
          </a:xfrm>
          <a:prstGeom prst="rect">
            <a:avLst/>
          </a:prstGeom>
          <a:solidFill>
            <a:srgbClr val="FC554D"/>
          </a:solid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3784600" y="1625600"/>
            <a:ext cx="4572000" cy="25908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1625600"/>
            <a:ext cx="4318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200" b="true"/>
              <a:t>Elektronlar</a:t>
            </a:r>
          </a:p>
          <a:p>
            <a:pPr>
              <a:buFont typeface="Arial"/>
              <a:buChar char="•"/>
            </a:pPr>
            <a:r>
              <a:rPr lang="en-US" sz="1800"/>
              <a:t>Atomlar yuzida joylashgan</a:t>
            </a:r>
          </a:p>
          <a:p>
            <a:pPr>
              <a:buFont typeface="Arial"/>
              <a:buChar char="•"/>
            </a:pPr>
            <a:r>
              <a:rPr lang="en-US" sz="1800"/>
              <a:t>Elektronlar atomlarning yadro bilan almashish orqali oʻzaro aloqani taʼminlaydi</a:t>
            </a:r>
          </a:p>
          <a:p>
            <a:pPr>
              <a:buFont typeface="Arial"/>
              <a:buChar char="•"/>
            </a:pPr>
            <a:r>
              <a:rPr lang="en-US" sz="1800"/>
              <a:t>Bir nechta atomlarda elektronlar protonlar sonidan koʻproq boʻladi</a:t>
            </a:r>
          </a:p>
        </p:txBody>
      </p:sp>
      <p:sp>
        <p:nvSpPr>
          <p:cNvPr name="AutoShape 4" id="4"/>
          <p:cNvSpPr/>
          <p:nvPr/>
        </p:nvSpPr>
        <p:spPr>
          <a:xfrm>
            <a:off x="4686300" y="88900"/>
            <a:ext cx="1270000" cy="635000"/>
          </a:xfrm>
          <a:prstGeom prst="rect">
            <a:avLst/>
          </a:prstGeom>
          <a:solidFill>
            <a:srgbClr val="B355F4"/>
          </a:solid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3441700" y="2184400"/>
            <a:ext cx="4279900" cy="25781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2184400"/>
            <a:ext cx="46101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200" b="true"/>
              <a:t>Atom yadrosining oʻlchami</a:t>
            </a:r>
          </a:p>
          <a:p>
            <a:pPr>
              <a:buFont typeface="Arial"/>
              <a:buChar char="•"/>
            </a:pPr>
            <a:r>
              <a:rPr lang="en-US" sz="1800"/>
              <a:t>Protonlar va neytronlar yadroning oʻlchamini aniqlaydi</a:t>
            </a:r>
          </a:p>
          <a:p>
            <a:pPr>
              <a:buFont typeface="Arial"/>
              <a:buChar char="•"/>
            </a:pPr>
            <a:r>
              <a:rPr lang="en-US" sz="1800"/>
              <a:t>Atom oʻlchamlari atomning tarkibiga qarab oʻzgaradi</a:t>
            </a:r>
          </a:p>
          <a:p>
            <a:pPr>
              <a:buFont typeface="Arial"/>
              <a:buChar char="•"/>
            </a:pPr>
            <a:r>
              <a:rPr lang="en-US" sz="1800"/>
              <a:t>Protonlar yadro oʻlchamining 99,9% sini egallaydi</a:t>
            </a:r>
          </a:p>
        </p:txBody>
      </p:sp>
      <p:sp>
        <p:nvSpPr>
          <p:cNvPr name="AutoShape 4" id="4"/>
          <p:cNvSpPr/>
          <p:nvPr/>
        </p:nvSpPr>
        <p:spPr>
          <a:xfrm>
            <a:off x="1333500" y="3594100"/>
            <a:ext cx="1270000" cy="635000"/>
          </a:xfrm>
          <a:prstGeom prst="ellipse">
            <a:avLst/>
          </a:prstGeom>
          <a:solidFill>
            <a:srgbClr val="103052"/>
          </a:solid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2120900" y="1447800"/>
            <a:ext cx="5651500" cy="32766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8026400" y="1447800"/>
            <a:ext cx="32385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200" b="true"/>
              <a:t>Atom yadrosining massasi</a:t>
            </a:r>
          </a:p>
          <a:p>
            <a:pPr>
              <a:buFont typeface="Arial"/>
              <a:buChar char="•"/>
            </a:pPr>
            <a:r>
              <a:rPr lang="en-US" sz="1800"/>
              <a:t>Atom yadrosi atomning massasining katta qismini egallaydi</a:t>
            </a:r>
          </a:p>
          <a:p>
            <a:pPr>
              <a:buFont typeface="Arial"/>
              <a:buChar char="•"/>
            </a:pPr>
            <a:r>
              <a:rPr lang="en-US" sz="1800"/>
              <a:t>Atom yadrosida elektronsiz atomin massasi 100,000,000 marta kichikroq</a:t>
            </a:r>
          </a:p>
          <a:p>
            <a:pPr>
              <a:buFont typeface="Arial"/>
              <a:buChar char="•"/>
            </a:pPr>
            <a:r>
              <a:rPr lang="en-US" sz="1800"/>
              <a:t>Atom yadrosining massasi atomning massasining 99,9% sini tashkil etadi</a:t>
            </a:r>
          </a:p>
        </p:txBody>
      </p:sp>
      <p:sp>
        <p:nvSpPr>
          <p:cNvPr name="AutoShape 4" id="4"/>
          <p:cNvSpPr/>
          <p:nvPr/>
        </p:nvSpPr>
        <p:spPr>
          <a:xfrm>
            <a:off x="5524500" y="1079500"/>
            <a:ext cx="1270000" cy="635000"/>
          </a:xfrm>
          <a:prstGeom prst="ellipse">
            <a:avLst/>
          </a:prstGeom>
          <a:solidFill>
            <a:srgbClr val="4E27AF"/>
          </a:solid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3797300" y="1651000"/>
            <a:ext cx="5930900" cy="32512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1651000"/>
            <a:ext cx="29591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200" b="true"/>
              <a:t>Atom yadrosining yorqinligi</a:t>
            </a:r>
          </a:p>
          <a:p>
            <a:pPr>
              <a:buFont typeface="Arial"/>
              <a:buChar char="•"/>
            </a:pPr>
            <a:r>
              <a:rPr lang="en-US" sz="1800"/>
              <a:t>Atom yadrosi juda yorqin boʻladi</a:t>
            </a:r>
          </a:p>
          <a:p>
            <a:pPr>
              <a:buFont typeface="Arial"/>
              <a:buChar char="•"/>
            </a:pPr>
            <a:r>
              <a:rPr lang="en-US" sz="1800"/>
              <a:t>Protonlar va neytronlar yadroda juda yaxshi oʻrnatilgan holda joylashgan</a:t>
            </a:r>
          </a:p>
          <a:p>
            <a:pPr>
              <a:buFont typeface="Arial"/>
              <a:buChar char="•"/>
            </a:pPr>
            <a:r>
              <a:rPr lang="en-US" sz="1800"/>
              <a:t>Atom yadrosidagi neytron va protonlar bir-biriga juda erishishgan holda joylashgan</a:t>
            </a:r>
          </a:p>
        </p:txBody>
      </p:sp>
      <p:sp>
        <p:nvSpPr>
          <p:cNvPr name="AutoShape 4" id="4"/>
          <p:cNvSpPr/>
          <p:nvPr/>
        </p:nvSpPr>
        <p:spPr>
          <a:xfrm>
            <a:off x="3657600" y="1879600"/>
            <a:ext cx="1270000" cy="635000"/>
          </a:xfrm>
          <a:prstGeom prst="rect">
            <a:avLst/>
          </a:prstGeom>
          <a:solidFill>
            <a:srgbClr val="287033"/>
          </a:solid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0" y="685800"/>
            <a:ext cx="4089400" cy="26797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7200900" y="685800"/>
            <a:ext cx="48006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200" b="true"/>
              <a:t>Atom yadrosi va energiya</a:t>
            </a:r>
          </a:p>
          <a:p>
            <a:pPr>
              <a:buFont typeface="Arial"/>
              <a:buChar char="•"/>
            </a:pPr>
            <a:r>
              <a:rPr lang="en-US" sz="1800"/>
              <a:t>Atom yadrosi kuchli energiyaga ega boʻladi</a:t>
            </a:r>
          </a:p>
          <a:p>
            <a:pPr>
              <a:buFont typeface="Arial"/>
              <a:buChar char="•"/>
            </a:pPr>
            <a:r>
              <a:rPr lang="en-US" sz="1800"/>
              <a:t>Atom yadrosi juda kuchli elektronlarini oʻzaro almashish orqali energiya yaratadi</a:t>
            </a:r>
          </a:p>
          <a:p>
            <a:pPr>
              <a:buFont typeface="Arial"/>
              <a:buChar char="•"/>
            </a:pPr>
            <a:r>
              <a:rPr lang="en-US" sz="1800"/>
              <a:t>Atom yadrosidagi neytronlar esa atomlar oʻrtasida energiya almashishiga olib keladi</a:t>
            </a:r>
          </a:p>
        </p:txBody>
      </p:sp>
      <p:sp>
        <p:nvSpPr>
          <p:cNvPr name="AutoShape 4" id="4"/>
          <p:cNvSpPr/>
          <p:nvPr/>
        </p:nvSpPr>
        <p:spPr>
          <a:xfrm>
            <a:off x="698500" y="1485900"/>
            <a:ext cx="1270000" cy="635000"/>
          </a:xfrm>
          <a:prstGeom prst="ellipse">
            <a:avLst/>
          </a:prstGeom>
          <a:solidFill>
            <a:srgbClr val="11F0FB"/>
          </a:solid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4521200" y="2603500"/>
            <a:ext cx="6324600" cy="3810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2603500"/>
            <a:ext cx="25654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200" b="true"/>
              <a:t>Atom yadrosining tuzilishi</a:t>
            </a:r>
          </a:p>
          <a:p>
            <a:pPr>
              <a:buFont typeface="Arial"/>
              <a:buChar char="•"/>
            </a:pPr>
            <a:r>
              <a:rPr lang="en-US" sz="1800"/>
              <a:t>Atom yadrosi binokorlik prinsipi asosida tuzilgan</a:t>
            </a:r>
          </a:p>
          <a:p>
            <a:pPr>
              <a:buFont typeface="Arial"/>
              <a:buChar char="•"/>
            </a:pPr>
            <a:r>
              <a:rPr lang="en-US" sz="1800"/>
              <a:t>Atom yadrosi yalpi elektrik yorqinligidan tashqari elektrik yorqinliga ega boʻlgan</a:t>
            </a:r>
          </a:p>
          <a:p>
            <a:pPr>
              <a:buFont typeface="Arial"/>
              <a:buChar char="•"/>
            </a:pPr>
            <a:r>
              <a:rPr lang="en-US" sz="1800"/>
              <a:t>Atom yadrosi elektronlar va protonlar sonidagi farqga qarab oʻzgaradi</a:t>
            </a:r>
          </a:p>
        </p:txBody>
      </p:sp>
      <p:sp>
        <p:nvSpPr>
          <p:cNvPr name="AutoShape 4" id="4"/>
          <p:cNvSpPr/>
          <p:nvPr/>
        </p:nvSpPr>
        <p:spPr>
          <a:xfrm>
            <a:off x="2273300" y="1968500"/>
            <a:ext cx="1905000" cy="25400"/>
          </a:xfrm>
          <a:prstGeom prst="line">
            <a:avLst/>
          </a:prstGeom>
          <a:ln>
            <a:solidFill>
              <a:srgbClr val="04F9BC"/>
            </a:solidFill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3441700" y="1092200"/>
            <a:ext cx="3873500" cy="28575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1092200"/>
            <a:ext cx="50165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200" b="true"/>
              <a:t>Atom yadrosi va kimyo</a:t>
            </a:r>
          </a:p>
          <a:p>
            <a:pPr>
              <a:buFont typeface="Arial"/>
              <a:buChar char="•"/>
            </a:pPr>
            <a:r>
              <a:rPr lang="en-US" sz="1800"/>
              <a:t>Atom yadrosi kimyoviy reaksiyalar uchun katta ahamiyatga ega</a:t>
            </a:r>
          </a:p>
          <a:p>
            <a:pPr>
              <a:buFont typeface="Arial"/>
              <a:buChar char="•"/>
            </a:pPr>
            <a:r>
              <a:rPr lang="en-US" sz="1800"/>
              <a:t>Atom yadrosi kimyoviy tarkibda ishtirok etgan elementlarni aniqlashda muhim ahamiyatga ega</a:t>
            </a:r>
          </a:p>
          <a:p>
            <a:pPr>
              <a:buFont typeface="Arial"/>
              <a:buChar char="•"/>
            </a:pPr>
            <a:r>
              <a:rPr lang="en-US" sz="1800"/>
              <a:t>Atom yadrosi kimyoviy reaksiyalarda energiya yaratishda muhim rol oʻynaydi</a:t>
            </a:r>
          </a:p>
        </p:txBody>
      </p:sp>
      <p:sp>
        <p:nvSpPr>
          <p:cNvPr name="AutoShape 4" id="4"/>
          <p:cNvSpPr/>
          <p:nvPr/>
        </p:nvSpPr>
        <p:spPr>
          <a:xfrm>
            <a:off x="1955800" y="2247900"/>
            <a:ext cx="1270000" cy="635000"/>
          </a:xfrm>
          <a:prstGeom prst="rect">
            <a:avLst/>
          </a:prstGeom>
          <a:solidFill>
            <a:srgbClr val="5263C3"/>
          </a:solid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