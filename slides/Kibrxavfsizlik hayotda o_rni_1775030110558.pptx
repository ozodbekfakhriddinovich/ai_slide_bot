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3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635000"/>
            <a:ext cx="11734800" cy="419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 algn="ctr"/>
            <a:r>
              <a:rPr lang="en-US" sz="4000" b="true">
                <a:solidFill>
                  <a:srgbClr val="FFFFFF"/>
                </a:solidFill>
                <a:latin typeface="Calibri"/>
              </a:rPr>
              <a:t>KIBRXAVFSIZLIK HAYOTDA OʻRNI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28600" y="5461000"/>
            <a:ext cx="117348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 algn="ctr"/>
            <a:r>
              <a:rPr lang="en-US" sz="3600" b="false">
                <a:solidFill>
                  <a:srgbClr val="FFFFFF"/>
                </a:solidFill>
                <a:latin typeface="Calibri"/>
              </a:rPr>
              <a:t>Ozodbek</a:t>
            </a:r>
          </a:p>
        </p:txBody>
      </p:sp>
      <p:sp>
        <p:nvSpPr>
          <p:cNvPr name="AutoShape 4" id="4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114300"/>
            <a:ext cx="11734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5500" b="true">
                <a:solidFill>
                  <a:srgbClr val="FFFFFF"/>
                </a:solidFill>
                <a:latin typeface="Calibri"/>
              </a:rPr>
              <a:t>Reja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28600" y="901700"/>
            <a:ext cx="11734800" cy="584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4500" b="true">
                <a:solidFill>
                  <a:srgbClr val="FFFFFF"/>
                </a:solidFill>
                <a:latin typeface="Calibri"/>
              </a:rPr>
              <a:t>Kibrxavfsizlik asoslari va ahamiyati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4500" b="true">
                <a:solidFill>
                  <a:srgbClr val="FFFFFF"/>
                </a:solidFill>
                <a:latin typeface="Calibri"/>
              </a:rPr>
              <a:t>Umumiy tahdidlar va himoya mexanizmlari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4500" b="true">
                <a:solidFill>
                  <a:srgbClr val="FFFFFF"/>
                </a:solidFill>
                <a:latin typeface="Calibri"/>
              </a:rPr>
              <a:t>Shaxsiy va tashkiliy kibrxavfsizlik madaniyati</a:t>
            </a:r>
          </a:p>
        </p:txBody>
      </p:sp>
      <p:sp>
        <p:nvSpPr>
          <p:cNvPr name="AutoShape 4" id="4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5400" y="5689600"/>
            <a:ext cx="12141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228600" y="139700"/>
            <a:ext cx="117348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5600" b="true">
                <a:solidFill>
                  <a:srgbClr val="FFFFFF"/>
                </a:solidFill>
                <a:latin typeface="Calibri"/>
              </a:rPr>
              <a:t>Kibrxavfsizlik asoslari va ahamiyati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28600" y="1651000"/>
            <a:ext cx="11734800" cy="403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Kibrxavfsizlik — bu raqamli ma'lumotlar va tizimlarni ruxsatsiz kirish, foydalanish, oshkor qilish, o'zgartirish yoki yo'q qilishdan himoya qilish jarayonidir.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Uning asosiy maqsadi — axborotning maxfiyligi, yaxlitligi va mavjudligini ta'minlash.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Bu nafaqat texnik choralar, balki inson omilini ham o'z ichiga oladi.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Zamonaviy dunyoda kibrxavfsizlik har bir shaxs va tashkilot uchun muhim ahamiyatga ega.</a:t>
            </a:r>
          </a:p>
        </p:txBody>
      </p:sp>
      <p:sp>
        <p:nvSpPr>
          <p:cNvPr name="AutoShape 5" id="5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88900"/>
            <a:ext cx="117348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  <a:latin typeface="Calibri"/>
              </a:rPr>
              <a:t>Kibrxavfsizlikning Ta'rifi va Maqsadi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28600" y="774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38200" y="800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Kibrxavfsizlik — bu raqamli ma'lumotlar va tizimlarni ruxsatsiz kirish, foydalanish, oshkor qilish, o'zgartirish yoki yo'q qilishdan himoya qilish jarayonidir.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228600" y="2298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38200" y="2324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Uning asosiy maqsadi — axborotning maxfiyligi, yaxlitligi va mavjudligini ta'minlash.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28600" y="3822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38200" y="3848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Bu nafaqat texnik choralar, balki inson omilini ham o'z ichiga oladi.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28600" y="5346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838200" y="5372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Zamonaviy dunyoda kibrxavfsizlik har bir shaxs va tashkilot uchun muhim ahamiyatga ega.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88900"/>
            <a:ext cx="117348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  <a:latin typeface="Calibri"/>
              </a:rPr>
              <a:t>Nima uchun Kibrxavfsizlik Muhim?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28600" y="774700"/>
            <a:ext cx="5892800" cy="193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Shaxsiy ma'lumotlar, moliyaviy aktivlar va intellektual mulkni himoya qilish uchun zarur.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28600" y="2755900"/>
            <a:ext cx="5892800" cy="193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Biznesning uzluksiz ishlashini ta'minlaydi va moliyaviy yo'qotishlarning oldini oladi.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228600" y="4737100"/>
            <a:ext cx="5892800" cy="193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Davlat infratuzilmasi va xavfsizligini ta'minlashda hal qiluvchi rol o'ynaydi.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774700"/>
            <a:ext cx="5930900" cy="5943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88900"/>
            <a:ext cx="11734800" cy="66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 algn="ctr"/>
            <a:r>
              <a:rPr lang="en-US" sz="2200" b="true">
                <a:solidFill>
                  <a:srgbClr val="FFFFFF"/>
                </a:solidFill>
                <a:latin typeface="Calibri"/>
              </a:rPr>
              <a:t>KIBRXAVFSIZLIKNING JAMIYATGA TA'SIRI</a:t>
            </a:r>
          </a:p>
        </p:txBody>
      </p:sp>
      <p:sp>
        <p:nvSpPr>
          <p:cNvPr name="AutoShape 3" id="3"/>
          <p:cNvSpPr/>
          <p:nvPr/>
        </p:nvSpPr>
        <p:spPr>
          <a:xfrm>
            <a:off x="228600" y="774700"/>
            <a:ext cx="3810000" cy="5969000"/>
          </a:xfrm>
          <a:prstGeom prst="rect">
            <a:avLst/>
          </a:prstGeom>
          <a:solidFill>
            <a:srgbClr val="6A5F8D"/>
          </a:solidFill>
          <a:ln>
            <a:solidFill>
              <a:srgbClr val="6A5F8D"/>
            </a:solidFill>
          </a:ln>
        </p:spPr>
      </p:sp>
      <p:sp>
        <p:nvSpPr>
          <p:cNvPr name="AutoShape 4" id="4"/>
          <p:cNvSpPr/>
          <p:nvPr/>
        </p:nvSpPr>
        <p:spPr>
          <a:xfrm>
            <a:off x="228600" y="774700"/>
            <a:ext cx="3810000" cy="7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5" id="5"/>
          <p:cNvSpPr txBox="true"/>
          <p:nvPr/>
        </p:nvSpPr>
        <p:spPr>
          <a:xfrm>
            <a:off x="330200" y="901700"/>
            <a:ext cx="3606800" cy="579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Iqtisodiy barqarorlik: Kibrhujumlar kompaniyalarga katta zarar yetkazishi, moliyaviy inqirozlarni keltirib chiqarishi va bozorga ishonchni pasaytirishi mumkin. Kuchli kibrxavfsizlik iqtisodiy o'sishni qo'llab-quvvatlaydi.</a:t>
            </a:r>
          </a:p>
        </p:txBody>
      </p:sp>
      <p:sp>
        <p:nvSpPr>
          <p:cNvPr name="AutoShape 6" id="6"/>
          <p:cNvSpPr/>
          <p:nvPr/>
        </p:nvSpPr>
        <p:spPr>
          <a:xfrm>
            <a:off x="4191000" y="774700"/>
            <a:ext cx="3810000" cy="5969000"/>
          </a:xfrm>
          <a:prstGeom prst="rect">
            <a:avLst/>
          </a:prstGeom>
          <a:solidFill>
            <a:srgbClr val="6A5F8D"/>
          </a:solidFill>
          <a:ln>
            <a:solidFill>
              <a:srgbClr val="6A5F8D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4191000" y="774700"/>
            <a:ext cx="3810000" cy="7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8" id="8"/>
          <p:cNvSpPr txBox="true"/>
          <p:nvPr/>
        </p:nvSpPr>
        <p:spPr>
          <a:xfrm>
            <a:off x="4292600" y="901700"/>
            <a:ext cx="3606800" cy="579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Shaxsiy mahfiylik: Shaxslarning ma'lumotlari buzilishi natijasida identifikatsiya o'g'irlanishi, moliyaviy firibgarlik va shaxsiy hayotga tajovuzlar yuzaga kelishi mumkin. Kibrxavfsizlik fuqarolarning raqamli huquqlarini himoya qiladi.</a:t>
            </a:r>
          </a:p>
        </p:txBody>
      </p:sp>
      <p:sp>
        <p:nvSpPr>
          <p:cNvPr name="AutoShape 9" id="9"/>
          <p:cNvSpPr/>
          <p:nvPr/>
        </p:nvSpPr>
        <p:spPr>
          <a:xfrm>
            <a:off x="8153400" y="774700"/>
            <a:ext cx="3810000" cy="5969000"/>
          </a:xfrm>
          <a:prstGeom prst="rect">
            <a:avLst/>
          </a:prstGeom>
          <a:solidFill>
            <a:srgbClr val="6A5F8D"/>
          </a:solidFill>
          <a:ln>
            <a:solidFill>
              <a:srgbClr val="6A5F8D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8153400" y="774700"/>
            <a:ext cx="3810000" cy="7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11" id="11"/>
          <p:cNvSpPr txBox="true"/>
          <p:nvPr/>
        </p:nvSpPr>
        <p:spPr>
          <a:xfrm>
            <a:off x="8255000" y="901700"/>
            <a:ext cx="3606800" cy="579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Milliy xavfsizlik: Davlat infratuzilmasiga (energetika, transport, aloqa) qilingan kibrhujumlar jiddiy oqibatlarga olib kelishi mumkin. Kibrxavfsizlik milliy xavfsizlikni ta'minlashda muhim rol o'ynaydi.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5400" y="5689600"/>
            <a:ext cx="12141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228600" y="139700"/>
            <a:ext cx="117348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5600" b="true">
                <a:solidFill>
                  <a:srgbClr val="FFFFFF"/>
                </a:solidFill>
                <a:latin typeface="Calibri"/>
              </a:rPr>
              <a:t>Umumiy tahdidlar va himoya mexanizmlari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28600" y="1651000"/>
            <a:ext cx="11734800" cy="403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Viruslar, troyanlar va xavfli dasturlar (malware) tizimlarga zarar yetkazuvchi asosiy tahdidlardir.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Fishing (firibgarlik) — bu foydalanuvchilarni aldash orqali maxfiy ma'lumotlarni o'g'irlash usuli.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Xizmatni rad etish hujumlari (DDoS) — veb-sayt yoki onlayn xizmatlarni ishdan chiqarishga qaratilgan hujum.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Foydalanuvchilarning zaif parollari va tizimlardagi kamchiliklar hujumlar uchun imkoniyat yaratadi.</a:t>
            </a:r>
          </a:p>
        </p:txBody>
      </p:sp>
      <p:sp>
        <p:nvSpPr>
          <p:cNvPr name="AutoShape 5" id="5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88900"/>
            <a:ext cx="117348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  <a:latin typeface="Calibri"/>
              </a:rPr>
              <a:t>Kibrhujumlarning Keng Tarqalgan Turlari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28600" y="774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38200" y="800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Viruslar, troyanlar va xavfli dasturlar (malware) tizimlarga zarar yetkazuvchi asosiy tahdidlardir.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228600" y="2298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38200" y="2324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Fishing (firibgarlik) — bu foydalanuvchilarni aldash orqali maxfiy ma'lumotlarni o'g'irlash usuli.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28600" y="3822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38200" y="3848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Xizmatni rad etish hujumlari (DDoS) — veb-sayt yoki onlayn xizmatlarni ishdan chiqarishga qaratilgan hujum.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28600" y="5346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838200" y="5372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Foydalanuvchilarning zaif parollari va tizimlardagi kamchiliklar hujumlar uchun imkoniyat yaratadi.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88900"/>
            <a:ext cx="117348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  <a:latin typeface="Calibri"/>
              </a:rPr>
              <a:t>Asosiy Himoya Choralari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28600" y="774700"/>
            <a:ext cx="5892800" cy="193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Kuyish devorlari (firewalls) va antivirus dasturlari tizimlarni tashqi tahdidlardan himoya qiladi.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28600" y="2755900"/>
            <a:ext cx="5892800" cy="193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Kiritishni aniqlash va oldini olish tizimlari (IDS/IPS) g'ayritabiiy faoliyatni kuzatadi.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228600" y="4737100"/>
            <a:ext cx="5892800" cy="193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Ma'lumotlarni shifrlash (encryption) ularning maxfiyligini ta'minlashning muhim usulidir.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774700"/>
            <a:ext cx="5930900" cy="5943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88900"/>
            <a:ext cx="11734800" cy="66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 algn="ctr"/>
            <a:r>
              <a:rPr lang="en-US" sz="2200" b="true">
                <a:solidFill>
                  <a:srgbClr val="FFFFFF"/>
                </a:solidFill>
                <a:latin typeface="Calibri"/>
              </a:rPr>
              <a:t>KUCHLI HIMOYA STRATEGIYALARI</a:t>
            </a:r>
          </a:p>
        </p:txBody>
      </p:sp>
      <p:sp>
        <p:nvSpPr>
          <p:cNvPr name="AutoShape 3" id="3"/>
          <p:cNvSpPr/>
          <p:nvPr/>
        </p:nvSpPr>
        <p:spPr>
          <a:xfrm>
            <a:off x="228600" y="774700"/>
            <a:ext cx="3810000" cy="5969000"/>
          </a:xfrm>
          <a:prstGeom prst="rect">
            <a:avLst/>
          </a:prstGeom>
          <a:solidFill>
            <a:srgbClr val="6A5F8D"/>
          </a:solidFill>
          <a:ln>
            <a:solidFill>
              <a:srgbClr val="6A5F8D"/>
            </a:solidFill>
          </a:ln>
        </p:spPr>
      </p:sp>
      <p:sp>
        <p:nvSpPr>
          <p:cNvPr name="AutoShape 4" id="4"/>
          <p:cNvSpPr/>
          <p:nvPr/>
        </p:nvSpPr>
        <p:spPr>
          <a:xfrm>
            <a:off x="228600" y="774700"/>
            <a:ext cx="3810000" cy="7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5" id="5"/>
          <p:cNvSpPr txBox="true"/>
          <p:nvPr/>
        </p:nvSpPr>
        <p:spPr>
          <a:xfrm>
            <a:off x="330200" y="901700"/>
            <a:ext cx="3606800" cy="579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Parollar boshqaruvi va ikki faktorli autentifikatsiya: Kuchli va noyob parollardan foydalanish, shuningdek, ikki faktorli autentifikatsiyani faollashtirish hisoblarning xavfsizligini sezilarli darajada oshiradi. Bu, hatto parol o'g'irlansa ham, ruxsatsiz kirishning oldini oladi.</a:t>
            </a:r>
          </a:p>
        </p:txBody>
      </p:sp>
      <p:sp>
        <p:nvSpPr>
          <p:cNvPr name="AutoShape 6" id="6"/>
          <p:cNvSpPr/>
          <p:nvPr/>
        </p:nvSpPr>
        <p:spPr>
          <a:xfrm>
            <a:off x="4191000" y="774700"/>
            <a:ext cx="3810000" cy="5969000"/>
          </a:xfrm>
          <a:prstGeom prst="rect">
            <a:avLst/>
          </a:prstGeom>
          <a:solidFill>
            <a:srgbClr val="6A5F8D"/>
          </a:solidFill>
          <a:ln>
            <a:solidFill>
              <a:srgbClr val="6A5F8D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4191000" y="774700"/>
            <a:ext cx="3810000" cy="7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8" id="8"/>
          <p:cNvSpPr txBox="true"/>
          <p:nvPr/>
        </p:nvSpPr>
        <p:spPr>
          <a:xfrm>
            <a:off x="4292600" y="901700"/>
            <a:ext cx="3606800" cy="579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Dasturiy ta'minotni muntazam yangilash: Operatsion tizimlar, brauzerlar va ilovalarni doimiy ravishda yangilab borish xavfsizlik kamchiliklarini bartaraf etishga yordam beradi. Ishlab chiquvchilar tez-tez yangilanishlar orqali yangi tahdidlarga qarshi himoyani kuchaytiradilar.</a:t>
            </a:r>
          </a:p>
        </p:txBody>
      </p:sp>
      <p:sp>
        <p:nvSpPr>
          <p:cNvPr name="AutoShape 9" id="9"/>
          <p:cNvSpPr/>
          <p:nvPr/>
        </p:nvSpPr>
        <p:spPr>
          <a:xfrm>
            <a:off x="8153400" y="774700"/>
            <a:ext cx="3810000" cy="5969000"/>
          </a:xfrm>
          <a:prstGeom prst="rect">
            <a:avLst/>
          </a:prstGeom>
          <a:solidFill>
            <a:srgbClr val="6A5F8D"/>
          </a:solidFill>
          <a:ln>
            <a:solidFill>
              <a:srgbClr val="6A5F8D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8153400" y="774700"/>
            <a:ext cx="3810000" cy="7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11" id="11"/>
          <p:cNvSpPr txBox="true"/>
          <p:nvPr/>
        </p:nvSpPr>
        <p:spPr>
          <a:xfrm>
            <a:off x="8255000" y="901700"/>
            <a:ext cx="3606800" cy="579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Zaxira nusxalash va tiklash rejalari: Muhim ma'lumotlarning muntazam zaxira nusxalarini yaratish va ularni xavfsiz joyda saqlash kiberhujumlar yoki texnik nosozliklar natijasida ma'lumotlar yo'qolishining oldini oladi. Samarali tiklash rejasi falokat holatlarida tezda faoliyatni tiklashga yordam beradi.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5400" y="5689600"/>
            <a:ext cx="12141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228600" y="139700"/>
            <a:ext cx="117348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5600" b="true">
                <a:solidFill>
                  <a:srgbClr val="FFFFFF"/>
                </a:solidFill>
                <a:latin typeface="Calibri"/>
              </a:rPr>
              <a:t>Shaxsiy va tashkiliy kibrxavfsizlik madaniyati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28600" y="1651000"/>
            <a:ext cx="11734800" cy="4038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Shubhali elektron pochta xabarlari yoki havolalarga bosmaslik muhimdir.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Noma'lum manbalardan dasturiy ta'minot yuklab olmaslik kerak.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Ijtimoiy tarmoqlarda shaxsiy ma'lumotlarni haddan tashqari ko'p joylashtirishdan saqlaning.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Calibri"/>
              </a:rPr>
              <a:t>Jamoat Wi-Fi tarmoqlarida muhim operatsiyalarni amalga oshirishda ehtiyot bo'ling.</a:t>
            </a:r>
          </a:p>
        </p:txBody>
      </p:sp>
      <p:sp>
        <p:nvSpPr>
          <p:cNvPr name="AutoShape 5" id="5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88900"/>
            <a:ext cx="117348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  <a:latin typeface="Calibri"/>
              </a:rPr>
              <a:t>Xavfsiz Raqamli Xulq-atvor Qoidalari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28600" y="774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38200" y="800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Shubhali elektron pochta xabarlari yoki havolalarga bosmaslik muhimdir.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228600" y="2298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38200" y="2324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Noma'lum manbalardan dasturiy ta'minot yuklab olmaslik kerak.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228600" y="3822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38200" y="3848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Ijtimoiy tarmoqlarda shaxsiy ma'lumotlarni haddan tashqari ko'p joylashtirishdan saqlaning.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28600" y="5346700"/>
            <a:ext cx="508000" cy="14859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3200" b="tru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838200" y="5372100"/>
            <a:ext cx="11074400" cy="14351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Jamoat Wi-Fi tarmoqlarida muhim operatsiyalarni amalga oshirishda ehtiyot bo'ling.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88900"/>
            <a:ext cx="117348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  <a:latin typeface="Calibri"/>
              </a:rPr>
              <a:t>Tashkiliy Kibrxavfsizlikning Asoslari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28600" y="774700"/>
            <a:ext cx="5892800" cy="193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Kompaniyalar kibrxavfsizlik siyosatini ishlab chiqishi va joriy etishi shart.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28600" y="2755900"/>
            <a:ext cx="5892800" cy="193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Xodimlarni muntazam ravishda kibrxavfsizlik bo'yicha o'qitish zarur.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228600" y="4737100"/>
            <a:ext cx="5892800" cy="193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Kibrxavfsizlik auditlari va zaifliklarni tekshirish doimiy ravishda o'tkazilishi lozim.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774700"/>
            <a:ext cx="5930900" cy="5943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88900"/>
            <a:ext cx="11734800" cy="6604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 algn="ctr"/>
            <a:r>
              <a:rPr lang="en-US" sz="2200" b="true">
                <a:solidFill>
                  <a:srgbClr val="FFFFFF"/>
                </a:solidFill>
                <a:latin typeface="Calibri"/>
              </a:rPr>
              <a:t>KIBRXAVFSIZLIK MADANIYATINI SHAKLLANTIRISH</a:t>
            </a:r>
          </a:p>
        </p:txBody>
      </p:sp>
      <p:sp>
        <p:nvSpPr>
          <p:cNvPr name="AutoShape 3" id="3"/>
          <p:cNvSpPr/>
          <p:nvPr/>
        </p:nvSpPr>
        <p:spPr>
          <a:xfrm>
            <a:off x="228600" y="774700"/>
            <a:ext cx="3810000" cy="5969000"/>
          </a:xfrm>
          <a:prstGeom prst="rect">
            <a:avLst/>
          </a:prstGeom>
          <a:solidFill>
            <a:srgbClr val="6A5F8D"/>
          </a:solidFill>
          <a:ln>
            <a:solidFill>
              <a:srgbClr val="6A5F8D"/>
            </a:solidFill>
          </a:ln>
        </p:spPr>
      </p:sp>
      <p:sp>
        <p:nvSpPr>
          <p:cNvPr name="AutoShape 4" id="4"/>
          <p:cNvSpPr/>
          <p:nvPr/>
        </p:nvSpPr>
        <p:spPr>
          <a:xfrm>
            <a:off x="228600" y="774700"/>
            <a:ext cx="3810000" cy="7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5" id="5"/>
          <p:cNvSpPr txBox="true"/>
          <p:nvPr/>
        </p:nvSpPr>
        <p:spPr>
          <a:xfrm>
            <a:off x="330200" y="901700"/>
            <a:ext cx="3606800" cy="579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Doimiy ta'lim va xabardorlik: Barcha xodimlar va oila a'zolari kibrxavfsizlik asoslari, yangi tahdidlar va himoya choralari haqida doimiy ravishda xabardor bo'lishlari kerak. Bu muntazam treninglar, seminarlar va axborot kampaniyalari orqali amalga oshirilishi mumkin.</a:t>
            </a:r>
          </a:p>
        </p:txBody>
      </p:sp>
      <p:sp>
        <p:nvSpPr>
          <p:cNvPr name="AutoShape 6" id="6"/>
          <p:cNvSpPr/>
          <p:nvPr/>
        </p:nvSpPr>
        <p:spPr>
          <a:xfrm>
            <a:off x="4191000" y="774700"/>
            <a:ext cx="3810000" cy="5969000"/>
          </a:xfrm>
          <a:prstGeom prst="rect">
            <a:avLst/>
          </a:prstGeom>
          <a:solidFill>
            <a:srgbClr val="6A5F8D"/>
          </a:solidFill>
          <a:ln>
            <a:solidFill>
              <a:srgbClr val="6A5F8D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4191000" y="774700"/>
            <a:ext cx="3810000" cy="7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8" id="8"/>
          <p:cNvSpPr txBox="true"/>
          <p:nvPr/>
        </p:nvSpPr>
        <p:spPr>
          <a:xfrm>
            <a:off x="4292600" y="901700"/>
            <a:ext cx="3606800" cy="579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Javobgarlikni oshirish: Har bir shaxs va tashkilotda kibrxavfsizlikni shaxsiy javobgarlik deb bilish madaniyatini shakllantirish muhim. Bu qoidabuzarliklarning oldini olish va xavfsizlik talablariga rioya etishni rag'batlantiradi.</a:t>
            </a:r>
          </a:p>
        </p:txBody>
      </p:sp>
      <p:sp>
        <p:nvSpPr>
          <p:cNvPr name="AutoShape 9" id="9"/>
          <p:cNvSpPr/>
          <p:nvPr/>
        </p:nvSpPr>
        <p:spPr>
          <a:xfrm>
            <a:off x="8153400" y="774700"/>
            <a:ext cx="3810000" cy="5969000"/>
          </a:xfrm>
          <a:prstGeom prst="rect">
            <a:avLst/>
          </a:prstGeom>
          <a:solidFill>
            <a:srgbClr val="6A5F8D"/>
          </a:solidFill>
          <a:ln>
            <a:solidFill>
              <a:srgbClr val="6A5F8D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8153400" y="774700"/>
            <a:ext cx="3810000" cy="7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11" id="11"/>
          <p:cNvSpPr txBox="true"/>
          <p:nvPr/>
        </p:nvSpPr>
        <p:spPr>
          <a:xfrm>
            <a:off x="8255000" y="901700"/>
            <a:ext cx="3606800" cy="5791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false">
                <a:solidFill>
                  <a:srgbClr val="FFFFFF"/>
                </a:solidFill>
                <a:latin typeface="Calibri"/>
              </a:rPr>
              <a:t>Xavfsizlikni ustuvor vazifa deb bilish: Kibrxavfsizlikni tashkilotning strategik ustuvorliklaridan biri sifatida ko'rish va unga tegishli resurslarni ajratish zarur. Bu nafaqat texnik yechimlarni joriy etish, balki xavfsizlikni barcha jarayonlarga integratsiya qilishni ham anglatadi.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28600" y="1397000"/>
            <a:ext cx="11734800" cy="279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 algn="ctr"/>
            <a:r>
              <a:rPr lang="en-US" sz="5000" b="true">
                <a:solidFill>
                  <a:srgbClr val="FFFFFF"/>
                </a:solidFill>
                <a:latin typeface="Calibri"/>
              </a:rPr>
              <a:t>E'tiboringiz uchun rahmat!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28600" y="5397500"/>
            <a:ext cx="117348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 algn="ctr"/>
            <a:r>
              <a:rPr lang="en-US" sz="3600" b="false">
                <a:solidFill>
                  <a:srgbClr val="FFFFFF"/>
                </a:solidFill>
                <a:latin typeface="Calibri"/>
              </a:rPr>
              <a:t>Ozodbek</a:t>
            </a:r>
          </a:p>
        </p:txBody>
      </p:sp>
      <p:sp>
        <p:nvSpPr>
          <p:cNvPr name="AutoShape 4" id="4"/>
          <p:cNvSpPr/>
          <p:nvPr/>
        </p:nvSpPr>
        <p:spPr>
          <a:xfrm>
            <a:off x="25400" y="254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25400" y="6794500"/>
            <a:ext cx="12141200" cy="381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254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12128500" y="25400"/>
            <a:ext cx="38100" cy="680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