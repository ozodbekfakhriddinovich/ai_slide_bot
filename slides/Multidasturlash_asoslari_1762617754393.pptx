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762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800" b="true"/>
              <a:t>Multidasturlash asoslari
null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7620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Reja:</a:t>
            </a:r>
          </a:p>
          <a:p>
            <a:pPr>
              <a:buFont typeface="Arial"/>
              <a:buChar char="•"/>
            </a:pPr>
            <a:r>
              <a:rPr lang="en-US" sz="2000"/>
              <a:t>Multidasturlash haqida umumiy ma'lumot</a:t>
            </a:r>
          </a:p>
          <a:p>
            <a:pPr>
              <a:buFont typeface="Arial"/>
              <a:buChar char="•"/>
            </a:pPr>
            <a:r>
              <a:rPr lang="en-US" sz="2000"/>
              <a:t>O'zgaruvchan dasturlash tili</a:t>
            </a:r>
          </a:p>
          <a:p>
            <a:pPr>
              <a:buFont typeface="Arial"/>
              <a:buChar char="•"/>
            </a:pPr>
            <a:r>
              <a:rPr lang="en-US" sz="2000"/>
              <a:t>OOP (Object-Oriented Programming) prinsiplari</a:t>
            </a:r>
          </a:p>
          <a:p>
            <a:pPr>
              <a:buFont typeface="Arial"/>
              <a:buChar char="•"/>
            </a:pPr>
            <a:r>
              <a:rPr lang="en-US" sz="2000"/>
              <a:t>Dasturlashda yordamchi dasturlar</a:t>
            </a:r>
          </a:p>
          <a:p>
            <a:pPr>
              <a:buFont typeface="Arial"/>
              <a:buChar char="•"/>
            </a:pPr>
            <a:r>
              <a:rPr lang="en-US" sz="2000"/>
              <a:t>Dasturlashda tahlil va kod yozish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400300"/>
            <a:ext cx="3302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O'zgaruvchan dasturlash tili</a:t>
            </a:r>
          </a:p>
          <a:p>
            <a:pPr>
              <a:buFont typeface="Arial"/>
              <a:buChar char="•"/>
            </a:pPr>
            <a:r>
              <a:rPr lang="en-US" sz="1800"/>
              <a:t>Python, Java, C++ kabi tillar</a:t>
            </a:r>
          </a:p>
          <a:p>
            <a:pPr>
              <a:buFont typeface="Arial"/>
              <a:buChar char="•"/>
            </a:pPr>
            <a:r>
              <a:rPr lang="en-US" sz="1800"/>
              <a:t>Funksiyalar va klaslar</a:t>
            </a:r>
          </a:p>
          <a:p>
            <a:pPr>
              <a:buFont typeface="Arial"/>
              <a:buChar char="•"/>
            </a:pPr>
            <a:r>
              <a:rPr lang="en-US" sz="1800"/>
              <a:t>Obyektga orientirovanniyligi</a:t>
            </a:r>
          </a:p>
          <a:p>
            <a:pPr>
              <a:buFont typeface="Arial"/>
              <a:buChar char="•"/>
            </a:pPr>
            <a:r>
              <a:rPr lang="en-US" sz="1800"/>
              <a:t>Modullar va paketlar</a:t>
            </a:r>
          </a:p>
          <a:p>
            <a:pPr>
              <a:buFont typeface="Arial"/>
              <a:buChar char="•"/>
            </a:pPr>
            <a:r>
              <a:rPr lang="en-US" sz="1800"/>
              <a:t>Dasturlashda o'zgaruvchan tipkengligi</a:t>
            </a:r>
          </a:p>
        </p:txBody>
      </p:sp>
      <p:sp>
        <p:nvSpPr>
          <p:cNvPr name="AutoShape 3" id="3"/>
          <p:cNvSpPr/>
          <p:nvPr/>
        </p:nvSpPr>
        <p:spPr>
          <a:xfrm>
            <a:off x="2209800" y="609600"/>
            <a:ext cx="1270000" cy="635000"/>
          </a:xfrm>
          <a:prstGeom prst="rect">
            <a:avLst/>
          </a:prstGeom>
          <a:solidFill>
            <a:srgbClr val="997AAB"/>
          </a:solid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308600" y="3441700"/>
            <a:ext cx="4953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OOP prinsiplari</a:t>
            </a:r>
          </a:p>
          <a:p>
            <a:pPr>
              <a:buFont typeface="Arial"/>
              <a:buChar char="•"/>
            </a:pPr>
            <a:r>
              <a:rPr lang="en-US" sz="1800"/>
              <a:t>Encapsulation, Inheritance, Polymorphism</a:t>
            </a:r>
          </a:p>
          <a:p>
            <a:pPr>
              <a:buFont typeface="Arial"/>
              <a:buChar char="•"/>
            </a:pPr>
            <a:r>
              <a:rPr lang="en-US" sz="1800"/>
              <a:t>Abstrakt va interfeyslar</a:t>
            </a:r>
          </a:p>
          <a:p>
            <a:pPr>
              <a:buFont typeface="Arial"/>
              <a:buChar char="•"/>
            </a:pPr>
            <a:r>
              <a:rPr lang="en-US" sz="1800"/>
              <a:t>Obyektlarning aloqadagi huquqlar</a:t>
            </a:r>
          </a:p>
          <a:p>
            <a:pPr>
              <a:buFont typeface="Arial"/>
              <a:buChar char="•"/>
            </a:pPr>
            <a:r>
              <a:rPr lang="en-US" sz="1800"/>
              <a:t>Isrof va yurish</a:t>
            </a:r>
          </a:p>
          <a:p>
            <a:pPr>
              <a:buFont typeface="Arial"/>
              <a:buChar char="•"/>
            </a:pPr>
            <a:r>
              <a:rPr lang="en-US" sz="1800"/>
              <a:t>Obyektga orientirovanniyligi misollar bilan</a:t>
            </a:r>
          </a:p>
        </p:txBody>
      </p:sp>
      <p:sp>
        <p:nvSpPr>
          <p:cNvPr name="AutoShape 3" id="3"/>
          <p:cNvSpPr/>
          <p:nvPr/>
        </p:nvSpPr>
        <p:spPr>
          <a:xfrm>
            <a:off x="4368800" y="3746500"/>
            <a:ext cx="1270000" cy="635000"/>
          </a:xfrm>
          <a:prstGeom prst="ellipse">
            <a:avLst/>
          </a:prstGeom>
          <a:solidFill>
            <a:srgbClr val="F54D9D"/>
          </a:solid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032000"/>
            <a:ext cx="41656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Dasturlashda yordamchi dasturlar</a:t>
            </a:r>
          </a:p>
          <a:p>
            <a:pPr>
              <a:buFont typeface="Arial"/>
              <a:buChar char="•"/>
            </a:pPr>
            <a:r>
              <a:rPr lang="en-US" sz="1800"/>
              <a:t>Kattni ifodalash va dasturlashning boshqa tillarga o'tkazilishi</a:t>
            </a:r>
          </a:p>
          <a:p>
            <a:pPr>
              <a:buFont typeface="Arial"/>
              <a:buChar char="•"/>
            </a:pPr>
            <a:r>
              <a:rPr lang="en-US" sz="1800"/>
              <a:t>Kodni boshqa tillarga o'tkazish</a:t>
            </a:r>
          </a:p>
          <a:p>
            <a:pPr>
              <a:buFont typeface="Arial"/>
              <a:buChar char="•"/>
            </a:pPr>
            <a:r>
              <a:rPr lang="en-US" sz="1800"/>
              <a:t>Yordamchi dasturlar va texnik qo'llab-quvvatlash</a:t>
            </a:r>
          </a:p>
          <a:p>
            <a:pPr>
              <a:buFont typeface="Arial"/>
              <a:buChar char="•"/>
            </a:pPr>
            <a:r>
              <a:rPr lang="en-US" sz="1800"/>
              <a:t>Kodni debugging qilish</a:t>
            </a:r>
          </a:p>
          <a:p>
            <a:pPr>
              <a:buFont typeface="Arial"/>
              <a:buChar char="•"/>
            </a:pPr>
            <a:r>
              <a:rPr lang="en-US" sz="1800"/>
              <a:t>Yordamchi dasturlar misollar bilan</a:t>
            </a:r>
          </a:p>
        </p:txBody>
      </p:sp>
      <p:sp>
        <p:nvSpPr>
          <p:cNvPr name="AutoShape 3" id="3"/>
          <p:cNvSpPr/>
          <p:nvPr/>
        </p:nvSpPr>
        <p:spPr>
          <a:xfrm>
            <a:off x="1143000" y="698500"/>
            <a:ext cx="1905000" cy="25400"/>
          </a:xfrm>
          <a:prstGeom prst="line">
            <a:avLst/>
          </a:prstGeom>
          <a:ln>
            <a:solidFill>
              <a:srgbClr val="DD8563"/>
            </a:solidFill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7289800" y="1397000"/>
            <a:ext cx="25527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Dasturlashda tahlil va kod yozish</a:t>
            </a:r>
          </a:p>
          <a:p>
            <a:pPr>
              <a:buFont typeface="Arial"/>
              <a:buChar char="•"/>
            </a:pPr>
            <a:r>
              <a:rPr lang="en-US" sz="1800"/>
              <a:t>Algoritm va dasturlash tahlili</a:t>
            </a:r>
          </a:p>
          <a:p>
            <a:pPr>
              <a:buFont typeface="Arial"/>
              <a:buChar char="•"/>
            </a:pPr>
            <a:r>
              <a:rPr lang="en-US" sz="1800"/>
              <a:t>Kod yozish prinsiplari</a:t>
            </a:r>
          </a:p>
          <a:p>
            <a:pPr>
              <a:buFont typeface="Arial"/>
              <a:buChar char="•"/>
            </a:pPr>
            <a:r>
              <a:rPr lang="en-US" sz="1800"/>
              <a:t>Chiziqlar va belgilar</a:t>
            </a:r>
          </a:p>
          <a:p>
            <a:pPr>
              <a:buFont typeface="Arial"/>
              <a:buChar char="•"/>
            </a:pPr>
            <a:r>
              <a:rPr lang="en-US" sz="1800"/>
              <a:t>Kodni tezkorlash usullari</a:t>
            </a:r>
          </a:p>
          <a:p>
            <a:pPr>
              <a:buFont typeface="Arial"/>
              <a:buChar char="•"/>
            </a:pPr>
            <a:r>
              <a:rPr lang="en-US" sz="1800"/>
              <a:t>Tahlil va kod yozish misollar bilan</a:t>
            </a:r>
          </a:p>
        </p:txBody>
      </p:sp>
      <p:sp>
        <p:nvSpPr>
          <p:cNvPr name="AutoShape 3" id="3"/>
          <p:cNvSpPr/>
          <p:nvPr/>
        </p:nvSpPr>
        <p:spPr>
          <a:xfrm>
            <a:off x="4749800" y="3200400"/>
            <a:ext cx="1270000" cy="635000"/>
          </a:xfrm>
          <a:prstGeom prst="rect">
            <a:avLst/>
          </a:prstGeom>
          <a:solidFill>
            <a:srgbClr val="8007A0"/>
          </a:solid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616700" y="2044700"/>
            <a:ext cx="32385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Xatolar va ularni bartaraf qilish</a:t>
            </a:r>
          </a:p>
          <a:p>
            <a:pPr>
              <a:buFont typeface="Arial"/>
              <a:buChar char="•"/>
            </a:pPr>
            <a:r>
              <a:rPr lang="en-US" sz="1800"/>
              <a:t>Kodningda qilgan xatolarning turi</a:t>
            </a:r>
          </a:p>
          <a:p>
            <a:pPr>
              <a:buFont typeface="Arial"/>
              <a:buChar char="•"/>
            </a:pPr>
            <a:r>
              <a:rPr lang="en-US" sz="1800"/>
              <a:t>Xatolarini aniqlash va tahlil qilish</a:t>
            </a:r>
          </a:p>
          <a:p>
            <a:pPr>
              <a:buFont typeface="Arial"/>
              <a:buChar char="•"/>
            </a:pPr>
            <a:r>
              <a:rPr lang="en-US" sz="1800"/>
              <a:t>Xatolarni bartaraf qilish usullari</a:t>
            </a:r>
          </a:p>
          <a:p>
            <a:pPr>
              <a:buFont typeface="Arial"/>
              <a:buChar char="•"/>
            </a:pPr>
            <a:r>
              <a:rPr lang="en-US" sz="1800"/>
              <a:t>Debugging va testing</a:t>
            </a:r>
          </a:p>
          <a:p>
            <a:pPr>
              <a:buFont typeface="Arial"/>
              <a:buChar char="•"/>
            </a:pPr>
            <a:r>
              <a:rPr lang="en-US" sz="1800"/>
              <a:t>Xatolarni bartaraf qilish misollar bilan</a:t>
            </a:r>
          </a:p>
        </p:txBody>
      </p:sp>
      <p:sp>
        <p:nvSpPr>
          <p:cNvPr name="AutoShape 3" id="3"/>
          <p:cNvSpPr/>
          <p:nvPr/>
        </p:nvSpPr>
        <p:spPr>
          <a:xfrm>
            <a:off x="381000" y="762000"/>
            <a:ext cx="1270000" cy="635000"/>
          </a:xfrm>
          <a:prstGeom prst="rect">
            <a:avLst/>
          </a:prstGeom>
          <a:solidFill>
            <a:srgbClr val="1E0E2F"/>
          </a:solid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705600" y="3708400"/>
            <a:ext cx="47498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Kodni optimallashtirish</a:t>
            </a:r>
          </a:p>
          <a:p>
            <a:pPr>
              <a:buFont typeface="Arial"/>
              <a:buChar char="•"/>
            </a:pPr>
            <a:r>
              <a:rPr lang="en-US" sz="1800"/>
              <a:t>Kodni tezkorlash va yaxshilash</a:t>
            </a:r>
          </a:p>
          <a:p>
            <a:pPr>
              <a:buFont typeface="Arial"/>
              <a:buChar char="•"/>
            </a:pPr>
            <a:r>
              <a:rPr lang="en-US" sz="1800"/>
              <a:t>Algoritmik va ma'lumotlar to'plamlari optimallashtirish</a:t>
            </a:r>
          </a:p>
          <a:p>
            <a:pPr>
              <a:buFont typeface="Arial"/>
              <a:buChar char="•"/>
            </a:pPr>
            <a:r>
              <a:rPr lang="en-US" sz="1800"/>
              <a:t>Kodning maqsad va mazmuni</a:t>
            </a:r>
          </a:p>
          <a:p>
            <a:pPr>
              <a:buFont typeface="Arial"/>
              <a:buChar char="•"/>
            </a:pPr>
            <a:r>
              <a:rPr lang="en-US" sz="1800"/>
              <a:t>Optimallashtirishning asosiy prinsiplari</a:t>
            </a:r>
          </a:p>
          <a:p>
            <a:pPr>
              <a:buFont typeface="Arial"/>
              <a:buChar char="•"/>
            </a:pPr>
            <a:r>
              <a:rPr lang="en-US" sz="1800"/>
              <a:t>Kodni optimallashtirish misollar bilan</a:t>
            </a:r>
          </a:p>
        </p:txBody>
      </p:sp>
      <p:sp>
        <p:nvSpPr>
          <p:cNvPr name="AutoShape 3" id="3"/>
          <p:cNvSpPr/>
          <p:nvPr/>
        </p:nvSpPr>
        <p:spPr>
          <a:xfrm>
            <a:off x="2006600" y="1600200"/>
            <a:ext cx="1905000" cy="25400"/>
          </a:xfrm>
          <a:prstGeom prst="line">
            <a:avLst/>
          </a:prstGeom>
          <a:ln>
            <a:solidFill>
              <a:srgbClr val="164677"/>
            </a:solidFill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7975600" y="1854200"/>
            <a:ext cx="29337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Kodni boshqarish</a:t>
            </a:r>
          </a:p>
          <a:p>
            <a:pPr>
              <a:buFont typeface="Arial"/>
              <a:buChar char="•"/>
            </a:pPr>
            <a:r>
              <a:rPr lang="en-US" sz="1800"/>
              <a:t>Kod repozitoriyalari va kontroll qilish</a:t>
            </a:r>
          </a:p>
          <a:p>
            <a:pPr>
              <a:buFont typeface="Arial"/>
              <a:buChar char="•"/>
            </a:pPr>
            <a:r>
              <a:rPr lang="en-US" sz="1800"/>
              <a:t>Versiyalar va yordamchi dasturlar</a:t>
            </a:r>
          </a:p>
          <a:p>
            <a:pPr>
              <a:buFont typeface="Arial"/>
              <a:buChar char="•"/>
            </a:pPr>
            <a:r>
              <a:rPr lang="en-US" sz="1800"/>
              <a:t>Kodni boshqarishning asosiy prinsiplari</a:t>
            </a:r>
          </a:p>
          <a:p>
            <a:pPr>
              <a:buFont typeface="Arial"/>
              <a:buChar char="•"/>
            </a:pPr>
            <a:r>
              <a:rPr lang="en-US" sz="1800"/>
              <a:t>Kodning ishlash jarayoni</a:t>
            </a:r>
          </a:p>
          <a:p>
            <a:pPr>
              <a:buFont typeface="Arial"/>
              <a:buChar char="•"/>
            </a:pPr>
            <a:r>
              <a:rPr lang="en-US" sz="1800"/>
              <a:t>Kodni boshqarish misollar bilan</a:t>
            </a:r>
          </a:p>
        </p:txBody>
      </p:sp>
      <p:sp>
        <p:nvSpPr>
          <p:cNvPr name="AutoShape 3" id="3"/>
          <p:cNvSpPr/>
          <p:nvPr/>
        </p:nvSpPr>
        <p:spPr>
          <a:xfrm>
            <a:off x="88900" y="2184400"/>
            <a:ext cx="1270000" cy="635000"/>
          </a:xfrm>
          <a:prstGeom prst="ellipse">
            <a:avLst/>
          </a:prstGeom>
          <a:solidFill>
            <a:srgbClr val="7B1705"/>
          </a:solid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193800"/>
            <a:ext cx="46355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Dasturlashda tizimlar</a:t>
            </a:r>
          </a:p>
          <a:p>
            <a:pPr>
              <a:buFont typeface="Arial"/>
              <a:buChar char="•"/>
            </a:pPr>
            <a:r>
              <a:rPr lang="en-US" sz="1800"/>
              <a:t>Tizimlar va tizim mashinasi</a:t>
            </a:r>
          </a:p>
          <a:p>
            <a:pPr>
              <a:buFont typeface="Arial"/>
              <a:buChar char="•"/>
            </a:pPr>
            <a:r>
              <a:rPr lang="en-US" sz="1800"/>
              <a:t>Tizimlar qurilishi va ishlash prinsiplari</a:t>
            </a:r>
          </a:p>
          <a:p>
            <a:pPr>
              <a:buFont typeface="Arial"/>
              <a:buChar char="•"/>
            </a:pPr>
            <a:r>
              <a:rPr lang="en-US" sz="1800"/>
              <a:t>Operatsion tizimlar va dasturlash tillari</a:t>
            </a:r>
          </a:p>
          <a:p>
            <a:pPr>
              <a:buFont typeface="Arial"/>
              <a:buChar char="•"/>
            </a:pPr>
            <a:r>
              <a:rPr lang="en-US" sz="1800"/>
              <a:t>Tizimlar va dasturlashning aloqasi</a:t>
            </a:r>
          </a:p>
          <a:p>
            <a:pPr>
              <a:buFont typeface="Arial"/>
              <a:buChar char="•"/>
            </a:pPr>
            <a:r>
              <a:rPr lang="en-US" sz="1800"/>
              <a:t>Tizimlar va dasturlash misollar bilan</a:t>
            </a:r>
          </a:p>
        </p:txBody>
      </p:sp>
      <p:sp>
        <p:nvSpPr>
          <p:cNvPr name="AutoShape 3" id="3"/>
          <p:cNvSpPr/>
          <p:nvPr/>
        </p:nvSpPr>
        <p:spPr>
          <a:xfrm>
            <a:off x="1714500" y="2590800"/>
            <a:ext cx="1905000" cy="25400"/>
          </a:xfrm>
          <a:prstGeom prst="line">
            <a:avLst/>
          </a:prstGeom>
          <a:ln>
            <a:solidFill>
              <a:srgbClr val="9CDC18"/>
            </a:solidFill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8242300" y="1536700"/>
            <a:ext cx="2921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Dasturlashda ma'lumotlar bazalari</a:t>
            </a:r>
          </a:p>
          <a:p>
            <a:pPr>
              <a:buFont typeface="Arial"/>
              <a:buChar char="•"/>
            </a:pPr>
            <a:r>
              <a:rPr lang="en-US" sz="1800"/>
              <a:t>Ma'lumotlar bazalarining turlari va xususiyatlari</a:t>
            </a:r>
          </a:p>
          <a:p>
            <a:pPr>
              <a:buFont typeface="Arial"/>
              <a:buChar char="•"/>
            </a:pPr>
            <a:r>
              <a:rPr lang="en-US" sz="1800"/>
              <a:t>SQL va NoSQL ma'lumotlar bazalari</a:t>
            </a:r>
          </a:p>
          <a:p>
            <a:pPr>
              <a:buFont typeface="Arial"/>
              <a:buChar char="•"/>
            </a:pPr>
            <a:r>
              <a:rPr lang="en-US" sz="1800"/>
              <a:t>Ma'lumotlar bazalarini ishlash prinsiplari</a:t>
            </a:r>
          </a:p>
          <a:p>
            <a:pPr>
              <a:buFont typeface="Arial"/>
              <a:buChar char="•"/>
            </a:pPr>
            <a:r>
              <a:rPr lang="en-US" sz="1800"/>
              <a:t>Dasturlashda ma'lumotlar bazasi bilan aloqasi</a:t>
            </a:r>
          </a:p>
          <a:p>
            <a:pPr>
              <a:buFont typeface="Arial"/>
              <a:buChar char="•"/>
            </a:pPr>
            <a:r>
              <a:rPr lang="en-US" sz="1800"/>
              <a:t>Ma'lumotlar bazasi bilan dasturlash misollar bilan</a:t>
            </a:r>
          </a:p>
        </p:txBody>
      </p:sp>
      <p:sp>
        <p:nvSpPr>
          <p:cNvPr name="AutoShape 3" id="3"/>
          <p:cNvSpPr/>
          <p:nvPr/>
        </p:nvSpPr>
        <p:spPr>
          <a:xfrm>
            <a:off x="2882900" y="685800"/>
            <a:ext cx="1905000" cy="25400"/>
          </a:xfrm>
          <a:prstGeom prst="line">
            <a:avLst/>
          </a:prstGeom>
          <a:ln>
            <a:solidFill>
              <a:srgbClr val="5E6665"/>
            </a:solidFill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