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1270000"/>
            <a:ext cx="4889500" cy="3225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0955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haqida umumiy ma'lumot</a:t>
            </a:r>
          </a:p>
          <a:p>
            <a:pPr>
              <a:buFont typeface="Arial"/>
              <a:buChar char="•"/>
            </a:pPr>
            <a:r>
              <a:rPr lang="en-US" sz="1800"/>
              <a:t>Ota, oila ichida erkak turar joyning boshidir</a:t>
            </a:r>
          </a:p>
          <a:p>
            <a:pPr>
              <a:buFont typeface="Arial"/>
              <a:buChar char="•"/>
            </a:pPr>
            <a:r>
              <a:rPr lang="en-US" sz="1800"/>
              <a:t>Ota, bolalarni tarbiyalash va oilani o'rganishda muhim rol o'ynaydi</a:t>
            </a:r>
          </a:p>
          <a:p>
            <a:pPr>
              <a:buFont typeface="Arial"/>
              <a:buChar char="•"/>
            </a:pPr>
            <a:r>
              <a:rPr lang="en-US" sz="1800"/>
              <a:t>Ota, oilaning ustunligi va ota-ona munosabatlari oilani sog'lom turmushga olib keladi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1270000"/>
            <a:ext cx="5753100" cy="3416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2319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bolalar munosabatlari</a:t>
            </a:r>
          </a:p>
          <a:p>
            <a:pPr>
              <a:buFont typeface="Arial"/>
              <a:buChar char="•"/>
            </a:pPr>
            <a:r>
              <a:rPr lang="en-US" sz="1800"/>
              <a:t>Ota, bolalar bilan qiziqishlarini va talablarini tushunishni o'rganadi</a:t>
            </a:r>
          </a:p>
          <a:p>
            <a:pPr>
              <a:buFont typeface="Arial"/>
              <a:buChar char="•"/>
            </a:pPr>
            <a:r>
              <a:rPr lang="en-US" sz="1800"/>
              <a:t>Ota, bolalar bilan hamkorlik va salomatlikni o'rganadi</a:t>
            </a:r>
          </a:p>
          <a:p>
            <a:pPr>
              <a:buFont typeface="Arial"/>
              <a:buChar char="•"/>
            </a:pPr>
            <a:r>
              <a:rPr lang="en-US" sz="1800"/>
              <a:t>Ota, bolalarga mas'uliyat va o'zaro hurmatni o'rgatadi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1270000"/>
            <a:ext cx="6096000" cy="2908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889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oila muhimiyati</a:t>
            </a:r>
          </a:p>
          <a:p>
            <a:pPr>
              <a:buFont typeface="Arial"/>
              <a:buChar char="•"/>
            </a:pPr>
            <a:r>
              <a:rPr lang="en-US" sz="1800"/>
              <a:t>Ota, oila qurilishida muhim ahamiyatga ega bo'lib, oilaning ustunligi uchun jiddiy mas'uliyatni o'zida oladi</a:t>
            </a:r>
          </a:p>
          <a:p>
            <a:pPr>
              <a:buFont typeface="Arial"/>
              <a:buChar char="•"/>
            </a:pPr>
            <a:r>
              <a:rPr lang="en-US" sz="1800"/>
              <a:t>Ota, oilaning asosiy qo'shilishi va uning o'rtasidagi yaxshi munosabatlari oilaning sog'lom turmushini ta'minlaydi</a:t>
            </a:r>
          </a:p>
          <a:p>
            <a:pPr>
              <a:buFont typeface="Arial"/>
              <a:buChar char="•"/>
            </a:pPr>
            <a:r>
              <a:rPr lang="en-US" sz="1800"/>
              <a:t>Ota, oilaning o'ziga xos tarbiyasi va tarbiyalash usullari borligini biladi va unga amal qiladi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1270000"/>
            <a:ext cx="5156200" cy="3022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8288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bolalar o'rtasidagi aloqalar</a:t>
            </a:r>
          </a:p>
          <a:p>
            <a:pPr>
              <a:buFont typeface="Arial"/>
              <a:buChar char="•"/>
            </a:pPr>
            <a:r>
              <a:rPr lang="en-US" sz="1800"/>
              <a:t>Ota, bolalar bilan o'zaro hurmat va munosabatni o'rganadi va unga amal qiladi</a:t>
            </a:r>
          </a:p>
          <a:p>
            <a:pPr>
              <a:buFont typeface="Arial"/>
              <a:buChar char="•"/>
            </a:pPr>
            <a:r>
              <a:rPr lang="en-US" sz="1800"/>
              <a:t>Ota, bolalarga qarshi adolatlik va nazariy muammo va savol yechishga yordam beradi</a:t>
            </a:r>
          </a:p>
          <a:p>
            <a:pPr>
              <a:buFont typeface="Arial"/>
              <a:buChar char="•"/>
            </a:pPr>
            <a:r>
              <a:rPr lang="en-US" sz="1800"/>
              <a:t>Ota, bolalarga qiziqishlarini va talablarini tushunish va qo'llab-quvvatlashni o'rganadi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1270000"/>
            <a:ext cx="6032500" cy="2971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9525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bolalarni tarbiyalash</a:t>
            </a:r>
          </a:p>
          <a:p>
            <a:pPr>
              <a:buFont typeface="Arial"/>
              <a:buChar char="•"/>
            </a:pPr>
            <a:r>
              <a:rPr lang="en-US" sz="1800"/>
              <a:t>Ota, bolalarni odob-ahloq, jamiyatga foydali a'zolarga aylantirishda muhim rol o'ynaydi</a:t>
            </a:r>
          </a:p>
          <a:p>
            <a:pPr>
              <a:buFont typeface="Arial"/>
              <a:buChar char="•"/>
            </a:pPr>
            <a:r>
              <a:rPr lang="en-US" sz="1800"/>
              <a:t>Ota, bolalarni o'zini o'ziga qarshi mas'uliyatni o'rgatadi va unga amal qiladi</a:t>
            </a:r>
          </a:p>
          <a:p>
            <a:pPr>
              <a:buFont typeface="Arial"/>
              <a:buChar char="•"/>
            </a:pPr>
            <a:r>
              <a:rPr lang="en-US" sz="1800"/>
              <a:t>Ota, bolalarni o'z o'zini va boshqalar bilan yaxshi munosabatlarni ta'minlashda o'rgatadi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1270000"/>
            <a:ext cx="6235700" cy="2679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7493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bolalar o'rtasidagi farzandlik</a:t>
            </a:r>
          </a:p>
          <a:p>
            <a:pPr>
              <a:buFont typeface="Arial"/>
              <a:buChar char="•"/>
            </a:pPr>
            <a:r>
              <a:rPr lang="en-US" sz="1800"/>
              <a:t>Ota, bolalarni qiziqishlarini va talablarini tushunish, o'rganish va qo'llab-quvvatlashda muhim rol o'ynaydi</a:t>
            </a:r>
          </a:p>
          <a:p>
            <a:pPr>
              <a:buFont typeface="Arial"/>
              <a:buChar char="•"/>
            </a:pPr>
            <a:r>
              <a:rPr lang="en-US" sz="1800"/>
              <a:t>Ota, bolalarni o'ziga xos tarbiya va o'zini boshqalar bilan solishtirishda o'rganadi</a:t>
            </a:r>
          </a:p>
          <a:p>
            <a:pPr>
              <a:buFont typeface="Arial"/>
              <a:buChar char="•"/>
            </a:pPr>
            <a:r>
              <a:rPr lang="en-US" sz="1800"/>
              <a:t>Ota, bolalarga adolat va nazariy muammo va savol yechishda yordam beradi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4546600" cy="2755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5080000" y="1270000"/>
            <a:ext cx="24384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bolalarni o'zaro hurmat va muhabbatda o'rgatish</a:t>
            </a:r>
          </a:p>
          <a:p>
            <a:pPr>
              <a:buFont typeface="Arial"/>
              <a:buChar char="•"/>
            </a:pPr>
            <a:r>
              <a:rPr lang="en-US" sz="1800"/>
              <a:t>Ota, bolalarga o'zini va boshqalar bilan yaxshi munosabatlarni ta'minlashda muhim rol o'ynaydi</a:t>
            </a:r>
          </a:p>
          <a:p>
            <a:pPr>
              <a:buFont typeface="Arial"/>
              <a:buChar char="•"/>
            </a:pPr>
            <a:r>
              <a:rPr lang="en-US" sz="1800"/>
              <a:t>Ota, bolalarga o'ziga xos tarbiya va muhabbatni muhim hisoblaydi</a:t>
            </a:r>
          </a:p>
          <a:p>
            <a:pPr>
              <a:buFont typeface="Arial"/>
              <a:buChar char="•"/>
            </a:pPr>
            <a:r>
              <a:rPr lang="en-US" sz="1800"/>
              <a:t>Ota, bolalarga muhabbat va hurmatni o'rgatadi va unga amal qiladi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1270000"/>
            <a:ext cx="4025900" cy="2590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9591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bolalarni o'z-o'zini tushunishda o'rgatish</a:t>
            </a:r>
          </a:p>
          <a:p>
            <a:pPr>
              <a:buFont typeface="Arial"/>
              <a:buChar char="•"/>
            </a:pPr>
            <a:r>
              <a:rPr lang="en-US" sz="1800"/>
              <a:t>Ota, bolalarni o'z o'zlarini tushunish va o'zini o'zini qanoatlantirishda muhim rol o'ynaydi</a:t>
            </a:r>
          </a:p>
          <a:p>
            <a:pPr>
              <a:buFont typeface="Arial"/>
              <a:buChar char="•"/>
            </a:pPr>
            <a:r>
              <a:rPr lang="en-US" sz="1800"/>
              <a:t>Ota, bolalarga o'z o'zini va o'zining aholisi bilan yaxshi munosabatlarni o'rganish va unga amal qilishni o'rgatadi</a:t>
            </a:r>
          </a:p>
          <a:p>
            <a:pPr>
              <a:buFont typeface="Arial"/>
              <a:buChar char="•"/>
            </a:pPr>
            <a:r>
              <a:rPr lang="en-US" sz="1800"/>
              <a:t>Ota, bolalarga o'z o'zini va boshqalar bilan yaxshi munosabatlarni ta'minlashda muhim rol o'ynaydi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1270000"/>
            <a:ext cx="5981700" cy="2552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0033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bolalar o'rtasidagi o'yinlar</a:t>
            </a:r>
          </a:p>
          <a:p>
            <a:pPr>
              <a:buFont typeface="Arial"/>
              <a:buChar char="•"/>
            </a:pPr>
            <a:r>
              <a:rPr lang="en-US" sz="1800"/>
              <a:t>Ota, bolalarni o'yin va mashg'ulotlarda o'zini va qo'llab-quvvatlashda muhim rol o'ynaydi</a:t>
            </a:r>
          </a:p>
          <a:p>
            <a:pPr>
              <a:buFont typeface="Arial"/>
              <a:buChar char="•"/>
            </a:pPr>
            <a:r>
              <a:rPr lang="en-US" sz="1800"/>
              <a:t>Ota, bolalarga o'yinlar orqali o'zini o'zini va boshqalar bilan yaxshi munosabatlarni o'rganishga imkoniyat beradi</a:t>
            </a:r>
          </a:p>
          <a:p>
            <a:pPr>
              <a:buFont typeface="Arial"/>
              <a:buChar char="•"/>
            </a:pPr>
            <a:r>
              <a:rPr lang="en-US" sz="1800"/>
              <a:t>Ota, bolalarga o'yin va mashg'ulotlar orqali sifatli va yaxshi odob-ahloqni o'rganishga yordam beradi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5397500" cy="2743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5080000" y="1270000"/>
            <a:ext cx="15875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Ota va bolalarni o'z-o'zini boshqalar bilan solishtirishda o'rgatish</a:t>
            </a:r>
          </a:p>
          <a:p>
            <a:pPr>
              <a:buFont typeface="Arial"/>
              <a:buChar char="•"/>
            </a:pPr>
            <a:r>
              <a:rPr lang="en-US" sz="1800"/>
              <a:t>Ota, bolalarni boshqalar bilan yaxshi munosabatlarni ta'minlashda muhim rol o'ynaydi</a:t>
            </a:r>
          </a:p>
          <a:p>
            <a:pPr>
              <a:buFont typeface="Arial"/>
              <a:buChar char="•"/>
            </a:pPr>
            <a:r>
              <a:rPr lang="en-US" sz="1800"/>
              <a:t>Ota, bolalarga odob-ahloq, salomatlik va hurmatni o'rgatadi va unga amal qiladi</a:t>
            </a:r>
          </a:p>
          <a:p>
            <a:pPr>
              <a:buFont typeface="Arial"/>
              <a:buChar char="•"/>
            </a:pPr>
            <a:r>
              <a:rPr lang="en-US" sz="1800"/>
              <a:t>Ota, bolalarga muhim va foydali xarakteristikalar va qobiliyatlar o'rganishda muhim rol o'ynaydi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