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Til o‘rganish
Abdishukurov Parviz 
Adabiyot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Til o‘rganishning ahamiyati va o‘zgarishi</a:t>
            </a:r>
          </a:p>
          <a:p>
            <a:pPr>
              <a:buFont typeface="Arial"/>
              <a:buChar char="•"/>
            </a:pPr>
            <a:r>
              <a:rPr lang="en-US" sz="2000"/>
              <a:t>Til o‘rganish bo‘yicha ommaviy va ilmiy yangiliklar</a:t>
            </a:r>
          </a:p>
          <a:p>
            <a:pPr>
              <a:buFont typeface="Arial"/>
              <a:buChar char="•"/>
            </a:pPr>
            <a:r>
              <a:rPr lang="en-US" sz="2000"/>
              <a:t>O‘zbek tiliga qiziqish va o‘rganishning muhimligi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965700" cy="3213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019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o‘rganishning foydali vositalari</a:t>
            </a:r>
          </a:p>
          <a:p>
            <a:pPr>
              <a:buFont typeface="Arial"/>
              <a:buChar char="•"/>
            </a:pPr>
            <a:r>
              <a:rPr lang="en-US" sz="1800"/>
              <a:t>Til o‘rganish uchun dars kitoblar</a:t>
            </a:r>
          </a:p>
          <a:p>
            <a:pPr>
              <a:buFont typeface="Arial"/>
              <a:buChar char="•"/>
            </a:pPr>
            <a:r>
              <a:rPr lang="en-US" sz="1800"/>
              <a:t>Internet resurslari va video darslar</a:t>
            </a:r>
          </a:p>
          <a:p>
            <a:pPr>
              <a:buFont typeface="Arial"/>
              <a:buChar char="•"/>
            </a:pPr>
            <a:r>
              <a:rPr lang="en-US" sz="1800"/>
              <a:t>Til o‘rganishning mobil ilovalari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6121400" cy="2705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863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o‘rganishning asosiy bosqichi</a:t>
            </a:r>
          </a:p>
          <a:p>
            <a:pPr>
              <a:buFont typeface="Arial"/>
              <a:buChar char="•"/>
            </a:pPr>
            <a:r>
              <a:rPr lang="en-US" sz="1800"/>
              <a:t>Fonema va grafema tushunchalari</a:t>
            </a:r>
          </a:p>
          <a:p>
            <a:pPr>
              <a:buFont typeface="Arial"/>
              <a:buChar char="•"/>
            </a:pPr>
            <a:r>
              <a:rPr lang="en-US" sz="1800"/>
              <a:t>Tog‘ri ovozlantirish va shakllantirish</a:t>
            </a:r>
          </a:p>
          <a:p>
            <a:pPr>
              <a:buFont typeface="Arial"/>
              <a:buChar char="•"/>
            </a:pPr>
            <a:r>
              <a:rPr lang="en-US" sz="1800"/>
              <a:t>Fonologiya va morfologiya darslari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826000" cy="3759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159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o‘rganishning tarkibi</a:t>
            </a:r>
          </a:p>
          <a:p>
            <a:pPr>
              <a:buFont typeface="Arial"/>
              <a:buChar char="•"/>
            </a:pPr>
            <a:r>
              <a:rPr lang="en-US" sz="1800"/>
              <a:t>Leksika va grammatika darslari</a:t>
            </a:r>
          </a:p>
          <a:p>
            <a:pPr>
              <a:buFont typeface="Arial"/>
              <a:buChar char="•"/>
            </a:pPr>
            <a:r>
              <a:rPr lang="en-US" sz="1800"/>
              <a:t>Til o‘rganishda amaliy mashg‘ulotlar</a:t>
            </a:r>
          </a:p>
          <a:p>
            <a:pPr>
              <a:buFont typeface="Arial"/>
              <a:buChar char="•"/>
            </a:pPr>
            <a:r>
              <a:rPr lang="en-US" sz="1800"/>
              <a:t>Til o‘rganishda o‘zbek tilining tarixi va ma’nolari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3975100" cy="2654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30099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o‘rganishda muvaffaqiyatli bo‘lish uchun kerakli qaydalar</a:t>
            </a:r>
          </a:p>
          <a:p>
            <a:pPr>
              <a:buFont typeface="Arial"/>
              <a:buChar char="•"/>
            </a:pPr>
            <a:r>
              <a:rPr lang="en-US" sz="1800"/>
              <a:t>Til o‘rganish uchun vaqt va energiya ajratish</a:t>
            </a:r>
          </a:p>
          <a:p>
            <a:pPr>
              <a:buFont typeface="Arial"/>
              <a:buChar char="•"/>
            </a:pPr>
            <a:r>
              <a:rPr lang="en-US" sz="1800"/>
              <a:t>O‘zlashtirish va qayta takrorlashning ahamiyati</a:t>
            </a:r>
          </a:p>
          <a:p>
            <a:pPr>
              <a:buFont typeface="Arial"/>
              <a:buChar char="•"/>
            </a:pPr>
            <a:r>
              <a:rPr lang="en-US" sz="1800"/>
              <a:t>Tarz va uslubni o‘rganish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673600" cy="3517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3114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o‘rganishning ahamiyati ish hayotida</a:t>
            </a:r>
          </a:p>
          <a:p>
            <a:pPr>
              <a:buFont typeface="Arial"/>
              <a:buChar char="•"/>
            </a:pPr>
            <a:r>
              <a:rPr lang="en-US" sz="1800"/>
              <a:t>Iqtisodiyotda til o‘rganishning roli</a:t>
            </a:r>
          </a:p>
          <a:p>
            <a:pPr>
              <a:buFont typeface="Arial"/>
              <a:buChar char="•"/>
            </a:pPr>
            <a:r>
              <a:rPr lang="en-US" sz="1800"/>
              <a:t>Ish o‘rinlarida til o‘rganishning zaruriyati</a:t>
            </a:r>
          </a:p>
          <a:p>
            <a:pPr>
              <a:buFont typeface="Arial"/>
              <a:buChar char="•"/>
            </a:pPr>
            <a:r>
              <a:rPr lang="en-US" sz="1800"/>
              <a:t>Til o‘rganishning diplom va ish topishga ta’siri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864100" cy="3035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1209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 va biznes sohasi</a:t>
            </a:r>
          </a:p>
          <a:p>
            <a:pPr>
              <a:buFont typeface="Arial"/>
              <a:buChar char="•"/>
            </a:pPr>
            <a:r>
              <a:rPr lang="en-US" sz="1800"/>
              <a:t>Chet tilar bilan savdo qilish imkoniyatlari</a:t>
            </a:r>
          </a:p>
          <a:p>
            <a:pPr>
              <a:buFont typeface="Arial"/>
              <a:buChar char="•"/>
            </a:pPr>
            <a:r>
              <a:rPr lang="en-US" sz="1800"/>
              <a:t>Tarjima va tulqin sohasidagi talablar</a:t>
            </a:r>
          </a:p>
          <a:p>
            <a:pPr>
              <a:buFont typeface="Arial"/>
              <a:buChar char="•"/>
            </a:pPr>
            <a:r>
              <a:rPr lang="en-US" sz="1800"/>
              <a:t>Mijozlarga ruxsatnoma va maqbul talaffuzning ahamiyati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216400" cy="257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768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 va turizm sohasi</a:t>
            </a:r>
          </a:p>
          <a:p>
            <a:pPr>
              <a:buFont typeface="Arial"/>
              <a:buChar char="•"/>
            </a:pPr>
            <a:r>
              <a:rPr lang="en-US" sz="1800"/>
              <a:t>Chet elda o‘qish va ish topish imkoniyatlari</a:t>
            </a:r>
          </a:p>
          <a:p>
            <a:pPr>
              <a:buFont typeface="Arial"/>
              <a:buChar char="•"/>
            </a:pPr>
            <a:r>
              <a:rPr lang="en-US" sz="1800"/>
              <a:t>Turistlar bilan tarjima sohasida ishlash</a:t>
            </a:r>
          </a:p>
          <a:p>
            <a:pPr>
              <a:buFont typeface="Arial"/>
              <a:buChar char="•"/>
            </a:pPr>
            <a:r>
              <a:rPr lang="en-US" sz="1800"/>
              <a:t>Turizmda turli tillarni o‘rganishning ahamiyati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067300" cy="3594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9177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 va oilaviy hayot</a:t>
            </a:r>
          </a:p>
          <a:p>
            <a:pPr>
              <a:buFont typeface="Arial"/>
              <a:buChar char="•"/>
            </a:pPr>
            <a:r>
              <a:rPr lang="en-US" sz="1800"/>
              <a:t>Oilaviy munosabatlarda tarjima va til o‘rganishning roli</a:t>
            </a:r>
          </a:p>
          <a:p>
            <a:pPr>
              <a:buFont typeface="Arial"/>
              <a:buChar char="•"/>
            </a:pPr>
            <a:r>
              <a:rPr lang="en-US" sz="1800"/>
              <a:t>Chet elda yashash va o‘zbek tilini o‘rganish</a:t>
            </a:r>
          </a:p>
          <a:p>
            <a:pPr>
              <a:buFont typeface="Arial"/>
              <a:buChar char="•"/>
            </a:pPr>
            <a:r>
              <a:rPr lang="en-US" sz="1800"/>
              <a:t>Chet tillarida yagona oila bo‘lish va qiziqish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5524500" cy="3073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4605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Til o‘rganish va dunyo bo‘ylab aloqalar</a:t>
            </a:r>
          </a:p>
          <a:p>
            <a:pPr>
              <a:buFont typeface="Arial"/>
              <a:buChar char="•"/>
            </a:pPr>
            <a:r>
              <a:rPr lang="en-US" sz="1800"/>
              <a:t>Jahon tillarini o‘rganish va tarjima sohasida ishlash</a:t>
            </a:r>
          </a:p>
          <a:p>
            <a:pPr>
              <a:buFont typeface="Arial"/>
              <a:buChar char="•"/>
            </a:pPr>
            <a:r>
              <a:rPr lang="en-US" sz="1800"/>
              <a:t>Chet tillarini o‘rganishning qo‘shma dunyo bo‘ylab aloqalarga ta’siri</a:t>
            </a:r>
          </a:p>
          <a:p>
            <a:pPr>
              <a:buFont typeface="Arial"/>
              <a:buChar char="•"/>
            </a:pPr>
            <a:r>
              <a:rPr lang="en-US" sz="1800"/>
              <a:t>Xalqaro hamkorlik va diplomatiyada til o‘rganishning o‘zgaruvchan roli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